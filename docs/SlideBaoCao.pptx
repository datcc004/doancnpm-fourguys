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9" r:id="rId2"/>
    <p:sldId id="274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5687C-274B-4E7F-9DE0-A9DDDDF5079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12AB2-6A9C-4511-B3F7-5B71F6275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PRODUCT BACKLOG
=====================================
[Thời gian: 1-2 phút]
"Đây là Product Backlog của dự án, gồm [XX] User Stories với tổng [XX] Story Points.
[Giải thích cách đọc bảng:]
- ID: Mã định danh User Story
- User Story: Mô tả theo format "Là [role], tôi muốn [action]"
- Priority: Must/Should/Could theo MoSCoW
- Points: Độ phức tạp ước lượng bằng Planning Poker
- Sprint: User Story được thực hiện trong Sprint nào
Phân bổ theo Sprint:
- Sprint 1: [X] US - Tập trung Auth và CRUD cơ bản
- Sprint 2: [X] US - Các tính năng chính
- Sprint 3: [X] US - Hoàn thiện và testing
Chi tiết đầy đủ có trong Phụ lục A của báo cáo."
LƯU Ý:
- Chỉ trình bày 5-7 US quan trọng nhất
- Nhấn mạnh các Must-have
- Không cần giải thích từng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PRODUCT BACKLOG
=====================================
[Thời gian: 1-2 phút]
"Đây là Product Backlog của dự án, gồm [XX] User Stories với tổng [XX] Story Points.
[Giải thích cách đọc bảng:]
- ID: Mã định danh User Story
- User Story: Mô tả theo format "Là [role], tôi muốn [action]"
- Priority: Must/Should/Could theo MoSCoW
- Points: Độ phức tạp ước lượng bằng Planning Poker
- Sprint: User Story được thực hiện trong Sprint nào
Phân bổ theo Sprint:
- Sprint 1: [X] US - Tập trung Auth và CRUD cơ bản
- Sprint 2: [X] US - Các tính năng chính
- Sprint 3: [X] US - Hoàn thiện và testing
Chi tiết đầy đủ có trong Phụ lục A của báo cáo."
LƯU Ý:
- Chỉ trình bày 5-7 US quan trọng nhất
- Nhấn mạnh các Must-have
- Không cần giải thích từng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PRODUCT BACKLOG
=====================================
[Thời gian: 1-2 phút]
"Đây là Product Backlog của dự án, gồm [XX] User Stories với tổng [XX] Story Points.
[Giải thích cách đọc bảng:]
- ID: Mã định danh User Story
- User Story: Mô tả theo format "Là [role], tôi muốn [action]"
- Priority: Must/Should/Could theo MoSCoW
- Points: Độ phức tạp ước lượng bằng Planning Poker
- Sprint: User Story được thực hiện trong Sprint nào
Phân bổ theo Sprint:
- Sprint 1: [X] US - Tập trung Auth và CRUD cơ bản
- Sprint 2: [X] US - Các tính năng chính
- Sprint 3: [X] US - Hoàn thiện và testing
Chi tiết đầy đủ có trong Phụ lục A của báo cáo."
LƯU Ý:
- Chỉ trình bày 5-7 US quan trọng nhất
- Nhấn mạnh các Must-have
- Không cần giải thích từng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1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 PRODUCT BACKLOG
=====================================
[Thời gian: 1-2 phút]
"Đây là Product Backlog của dự án, gồm [XX] User Stories với tổng [XX] Story Points.
[Giải thích cách đọc bảng:]
- ID: Mã định danh User Story
- User Story: Mô tả theo format "Là [role], tôi muốn [action]"
- Priority: Must/Should/Could theo MoSCoW
- Points: Độ phức tạp ước lượng bằng Planning Poker
- Sprint: User Story được thực hiện trong Sprint nào
Phân bổ theo Sprint:
- Sprint 1: [X] US - Tập trung Auth và CRUD cơ bản
- Sprint 2: [X] US - Các tính năng chính
- Sprint 3: [X] US - Hoàn thiện và testing
Chi tiết đầy đủ có trong Phụ lục A của báo cáo."
LƯU Ý:
- Chỉ trình bày 5-7 US quan trọng nhất
- Nhấn mạnh các Must-have
- Không cần giải thích từng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86-72CB-6863-05D2-C66267115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16865-FB7E-218C-C397-0EDBB943D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D8BC-0241-4BAB-5D3F-BD0864F4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3695-56F2-56AC-0150-2BA8DAF4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FC42-7A65-2287-2EFE-461EC711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230F-5F47-2F9F-F8AA-A54AEF25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D6A2F-17D9-289F-50F7-E4089FC5B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3EBD-6CF7-91D5-247E-193BB47C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D1C4A-2F4D-2B5F-2AAA-4C966AA1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8E28B-618D-8EF4-C4F5-0197CC79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8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23F8-AA81-A459-D8A6-6D4E6BC7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D3C7F-7935-5CE3-B15F-B80665987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3E3F4-8EAC-24B7-A490-54536166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B9632-1E90-D781-13D8-90E211FE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9A6F1-D7E3-F004-F1E2-8455920D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8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2043-416A-9BCC-1D81-FCD1A872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65F0-86A9-5094-2177-7B2C7789E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7DD3-6589-71DB-8105-26FE02D12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6FF59-6480-ED27-C22F-CFE850F0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3D924-DB3C-0EE1-8C0B-480F0DBD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6A425-B912-C7BA-5D07-7EF3A9DD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7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9816-99C9-A41E-D346-9414C7E2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9F868-657D-428B-643D-1B5A37FF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7C9E8-1E29-2737-39B8-CBE2346B7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AD78B-87A7-88B6-1264-C7B47A7AA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17CEB-E878-4146-5905-1734B847B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1F2B0-2A03-4481-9223-CED60E41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046431-1BC4-C585-CF3B-5B80AC0E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6DE2E-E8E2-148F-3F8F-A2D7972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965C-B2F2-7670-C212-D8F21F73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9431D-C648-F8F4-2054-40D05982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823C0-73B6-DB0E-CE9E-39A0D9CB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287A7-B910-D304-4682-9B031CBA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5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E3FBD-A4A1-C76C-28C4-F0D1AF4A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5BA45-1229-CBE6-7497-4D3CDE13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191D9-9715-AB14-CF72-D9CC9EB8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9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8778-FD46-4932-D14F-B9505B51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8765-766E-E1E1-32C3-DB7CFDF2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C47D0-0D03-7E5E-CFC1-7C3859F3F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8D78B-871D-3FE5-BA61-C41285D4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59204-1CD4-5017-5FDB-5C83A8A9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D223A-CD0D-B897-EC8C-13CE1402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1877-1668-ED5B-3E09-9036CAFA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7511B-794F-2BCA-2D6F-C80CA8870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2AD46-6EDC-8A8B-F98B-A6BB9D0D9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326FB-61C8-415A-BC5A-4EBEA8D4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11855-4385-9EA2-ADD3-52AC84D9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FDD14-DDC0-40F6-B870-FEA7A66D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2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3C6D-BBE8-F625-F21F-612D8F16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C25C0-7CBD-C7FE-8F88-FBECD1243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FE9A-DCFB-9CC9-E908-54292F19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EF70F-CCF8-6739-5F37-822F4DD7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658E4-D1CF-17B1-AAA9-3164C122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1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171D2-25FA-4E1E-4909-9866ABDFC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E58D9-4159-CBD1-A595-9EE541966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2361A-9E00-7D00-F89E-4D964215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4AAD4-2FAD-BFC9-2054-4D4D981A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A27D-9981-7DF6-1364-C643CEEE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8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63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8FDA2-B9D3-1A78-6698-83D1B894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71082-48C0-E7D4-F914-D3C43E592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F218-757C-DCA5-3A3B-7FC51A62E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130BD-4622-45C6-AD80-03ACECC78E3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3CFF2-95CD-93BF-C625-5C9DB496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C3876-3D24-48D2-EECA-A9C7E5FA1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C98BC-DF6A-4C26-B6BE-EC4E0F848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8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438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i="0" dirty="0">
                <a:solidFill>
                  <a:srgbClr val="E6E8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PHÂN TÍCH YÊU CẦU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21920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Product Backlog</a:t>
            </a:r>
          </a:p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5.1. Sprint 1 :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139351"/>
          <a:ext cx="10728960" cy="316992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User Story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Priority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Points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Sprint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người dùng, tôi muốn đăng ký tài khoản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người dùng, tôi muốn đăng nhập hệ thống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người dùng, tôi muốn đăng xuất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US04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người dùng, tôi muốn quên mật khẩu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admin, tôi muốn quản lý người dùng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US06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admin, tôi muốn phân quyền người dùng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US07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người dùng, tôi muốn cập nhật thông tin cá nhân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33887"/>
                  </a:ext>
                </a:extLst>
              </a:tr>
            </a:tbl>
          </a:graphicData>
        </a:graphic>
      </p:graphicFrame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14" b="98264" l="1736" r="97917">
                        <a14:foregroundMark x1="52431" y1="5208" x2="52431" y2="5208"/>
                        <a14:foregroundMark x1="5903" y1="48958" x2="5903" y2="48958"/>
                        <a14:foregroundMark x1="52778" y1="93750" x2="52778" y2="93750"/>
                        <a14:foregroundMark x1="93750" y1="47917" x2="93750" y2="47917"/>
                        <a14:foregroundMark x1="97917" y1="50347" x2="97917" y2="50347"/>
                        <a14:foregroundMark x1="49653" y1="98611" x2="49653" y2="98611"/>
                        <a14:foregroundMark x1="1736" y1="50694" x2="1736" y2="506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6640" y="1219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438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i="0" dirty="0">
                <a:solidFill>
                  <a:srgbClr val="E6E8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PHÂN TÍCH YÊU CẦU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65760" y="284097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E75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Tổng: [25] User Stories | [77] Story Points | 3 Sprints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65760" y="3328650"/>
            <a:ext cx="3657600" cy="6096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5"/>
          <p:cNvSpPr/>
          <p:nvPr/>
        </p:nvSpPr>
        <p:spPr>
          <a:xfrm>
            <a:off x="365760" y="3389610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1: [7] US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67200" y="3328650"/>
            <a:ext cx="3657600" cy="609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7"/>
          <p:cNvSpPr/>
          <p:nvPr/>
        </p:nvSpPr>
        <p:spPr>
          <a:xfrm>
            <a:off x="4267200" y="3389610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565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2: [9] US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68640" y="3328650"/>
            <a:ext cx="3657600" cy="609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9"/>
          <p:cNvSpPr/>
          <p:nvPr/>
        </p:nvSpPr>
        <p:spPr>
          <a:xfrm>
            <a:off x="8168640" y="3389610"/>
            <a:ext cx="3657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651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3: [9] US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14" b="98264" l="1736" r="97917">
                        <a14:foregroundMark x1="52431" y1="5208" x2="52431" y2="5208"/>
                        <a14:foregroundMark x1="5903" y1="48958" x2="5903" y2="48958"/>
                        <a14:foregroundMark x1="52778" y1="93750" x2="52778" y2="93750"/>
                        <a14:foregroundMark x1="93750" y1="47917" x2="93750" y2="47917"/>
                        <a14:foregroundMark x1="97917" y1="50347" x2="97917" y2="50347"/>
                        <a14:foregroundMark x1="49653" y1="98611" x2="49653" y2="98611"/>
                        <a14:foregroundMark x1="1736" y1="50694" x2="1736" y2="506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6640" y="1219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438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i="0" dirty="0">
                <a:solidFill>
                  <a:srgbClr val="E6E8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PHÂN TÍCH YÊU CẦU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21920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Product Backlog</a:t>
            </a:r>
          </a:p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5.1. Sprint 2 :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139351"/>
          <a:ext cx="10728960" cy="396240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User Story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Priority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Points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Sprint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US08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Là admin, tôi muốn quản lý khóa học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US09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Là admin, tôi muốn quản lý lớp học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US10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Là</a:t>
                      </a:r>
                      <a:r>
                        <a:rPr lang="en-US" dirty="0"/>
                        <a:t> admin,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giảng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Là học viên, tôi muốn xem danh sách khóa học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Là học viên, tôi muốn xem chi tiết khóa học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Là học viên, tôi muốn đăng ký khóa học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US14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Là học viên, tôi muốn tìm kiếm khóa học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33887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US15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Là nhân viên, tôi muốn quản lý danh sách học viên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887636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US16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Là nhân viên, tôi muốn đăng ký khóa học cho học viên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347594"/>
                  </a:ext>
                </a:extLst>
              </a:tr>
            </a:tbl>
          </a:graphicData>
        </a:graphic>
      </p:graphicFrame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14" b="98264" l="1736" r="97917">
                        <a14:foregroundMark x1="52431" y1="5208" x2="52431" y2="5208"/>
                        <a14:foregroundMark x1="5903" y1="48958" x2="5903" y2="48958"/>
                        <a14:foregroundMark x1="52778" y1="93750" x2="52778" y2="93750"/>
                        <a14:foregroundMark x1="93750" y1="47917" x2="93750" y2="47917"/>
                        <a14:foregroundMark x1="97917" y1="50347" x2="97917" y2="50347"/>
                        <a14:foregroundMark x1="49653" y1="98611" x2="49653" y2="98611"/>
                        <a14:foregroundMark x1="1736" y1="50694" x2="1736" y2="506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6640" y="121920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6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2438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i="0" dirty="0">
                <a:solidFill>
                  <a:srgbClr val="E6E8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PHÂN TÍCH YÊU CẦU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21920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Product Backlog</a:t>
            </a:r>
          </a:p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5.1. Sprint 3 :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2193327"/>
          <a:ext cx="10728960" cy="3962400"/>
        </p:xfrm>
        <a:graphic>
          <a:graphicData uri="http://schemas.openxmlformats.org/drawingml/2006/table">
            <a:tbl>
              <a:tblPr/>
              <a:tblGrid>
                <a:gridCol w="85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User Story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Priority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Points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Sprint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US17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vi-VN" dirty="0"/>
                        <a:t>Là giáo viên, tôi muốn xem lớp được phân công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US18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US19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US20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chấm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điểm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US21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chấm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US22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lịch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học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US23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Là</a:t>
                      </a:r>
                      <a:r>
                        <a:rPr lang="en-US" dirty="0"/>
                        <a:t> admin,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thu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33887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US24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toán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887636"/>
                  </a:ext>
                </a:extLst>
              </a:tr>
              <a:tr h="3571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US25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Là</a:t>
                      </a:r>
                      <a:r>
                        <a:rPr lang="en-US" dirty="0"/>
                        <a:t> admin, </a:t>
                      </a:r>
                      <a:r>
                        <a:rPr lang="en-US" dirty="0" err="1"/>
                        <a:t>tôi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kê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 pitchFamily="34" charset="-122"/>
                          <a:cs typeface="Times New Roman" panose="02020603050405020304" pitchFamily="18" charset="0"/>
                        </a:rPr>
                        <a:t>Must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347594"/>
                  </a:ext>
                </a:extLst>
              </a:tr>
            </a:tbl>
          </a:graphicData>
        </a:graphic>
      </p:graphicFrame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14" b="98264" l="1736" r="97917">
                        <a14:foregroundMark x1="52431" y1="5208" x2="52431" y2="5208"/>
                        <a14:foregroundMark x1="5903" y1="48958" x2="5903" y2="48958"/>
                        <a14:foregroundMark x1="52778" y1="93750" x2="52778" y2="93750"/>
                        <a14:foregroundMark x1="93750" y1="47917" x2="93750" y2="47917"/>
                        <a14:foregroundMark x1="97917" y1="50347" x2="97917" y2="50347"/>
                        <a14:foregroundMark x1="49653" y1="98611" x2="49653" y2="98611"/>
                        <a14:foregroundMark x1="1736" y1="50694" x2="1736" y2="506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6640" y="121920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Office PowerPoint</Application>
  <PresentationFormat>Widescreen</PresentationFormat>
  <Paragraphs>162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Thanh Xuan</dc:creator>
  <cp:lastModifiedBy>Nguyen Thi Thanh Xuan</cp:lastModifiedBy>
  <cp:revision>2</cp:revision>
  <dcterms:created xsi:type="dcterms:W3CDTF">2026-04-23T14:28:48Z</dcterms:created>
  <dcterms:modified xsi:type="dcterms:W3CDTF">2026-04-23T14:38:01Z</dcterms:modified>
</cp:coreProperties>
</file>